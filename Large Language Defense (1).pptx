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30"/>
  </p:notesMasterIdLst>
  <p:handoutMasterIdLst>
    <p:handoutMasterId r:id="rId31"/>
  </p:handoutMasterIdLst>
  <p:sldIdLst>
    <p:sldId id="322" r:id="rId5"/>
    <p:sldId id="321" r:id="rId6"/>
    <p:sldId id="320" r:id="rId7"/>
    <p:sldId id="332" r:id="rId8"/>
    <p:sldId id="323" r:id="rId9"/>
    <p:sldId id="318" r:id="rId10"/>
    <p:sldId id="317" r:id="rId11"/>
    <p:sldId id="316" r:id="rId12"/>
    <p:sldId id="333" r:id="rId13"/>
    <p:sldId id="348" r:id="rId14"/>
    <p:sldId id="334" r:id="rId15"/>
    <p:sldId id="327" r:id="rId16"/>
    <p:sldId id="339" r:id="rId17"/>
    <p:sldId id="343" r:id="rId18"/>
    <p:sldId id="344" r:id="rId19"/>
    <p:sldId id="340" r:id="rId20"/>
    <p:sldId id="341" r:id="rId21"/>
    <p:sldId id="342" r:id="rId22"/>
    <p:sldId id="338" r:id="rId23"/>
    <p:sldId id="345" r:id="rId24"/>
    <p:sldId id="346" r:id="rId25"/>
    <p:sldId id="347" r:id="rId26"/>
    <p:sldId id="349" r:id="rId27"/>
    <p:sldId id="312" r:id="rId28"/>
    <p:sldId id="310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989" autoAdjust="0"/>
    <p:restoredTop sz="95388" autoAdjust="0"/>
  </p:normalViewPr>
  <p:slideViewPr>
    <p:cSldViewPr snapToGrid="0">
      <p:cViewPr varScale="1">
        <p:scale>
          <a:sx n="89" d="100"/>
          <a:sy n="89" d="100"/>
        </p:scale>
        <p:origin x="96" y="120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E6205E-B305-4B90-9534-3C5E99A0275E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AC623C-86E0-4A85-83FB-F4A716956F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3722F1-E430-42A1-A473-1759336AECCE}" type="datetimeFigureOut">
              <a:rPr lang="en-US" smtClean="0"/>
              <a:t>3/25/2026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7D7554-D10C-4E29-B8E6-BB7111FA614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ictur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anchor="b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icture and Conten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able Placehold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ntent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sz="2000"/>
            </a:lvl1pPr>
            <a:lvl2pPr>
              <a:lnSpc>
                <a:spcPct val="100000"/>
              </a:lnSpc>
              <a:spcAft>
                <a:spcPts val="600"/>
              </a:spcAft>
              <a:defRPr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sz="2000"/>
            </a:lvl3pPr>
            <a:lvl4pPr>
              <a:lnSpc>
                <a:spcPct val="100000"/>
              </a:lnSpc>
              <a:spcAft>
                <a:spcPts val="1200"/>
              </a:spcAft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sz="2000"/>
            </a:lvl2pPr>
            <a:lvl3pPr marL="1257300" indent="-342900">
              <a:buFont typeface="Arial" panose="020B0604020202020204" pitchFamily="34" charset="0"/>
              <a:buChar char="•"/>
              <a:defRPr sz="2000"/>
            </a:lvl3pPr>
            <a:lvl4pPr marL="1714500" indent="-342900">
              <a:buFont typeface="Arial" panose="020B0604020202020204" pitchFamily="34" charset="0"/>
              <a:buChar char="•"/>
              <a:defRPr sz="2000"/>
            </a:lvl4pPr>
            <a:lvl5pPr marL="2171700" indent="-342900">
              <a:buFont typeface="Arial" panose="020B0604020202020204" pitchFamily="34" charset="0"/>
              <a:buChar char="•"/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ab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anchor="b">
            <a:normAutofit/>
          </a:bodyPr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18D65601-5AE2-46FC-B138-694DDD2B510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54C9E-20FB-B999-9303-C71D1334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0273" y="559882"/>
            <a:ext cx="9927328" cy="2738489"/>
          </a:xfrm>
        </p:spPr>
        <p:txBody>
          <a:bodyPr>
            <a:normAutofit fontScale="90000"/>
          </a:bodyPr>
          <a:lstStyle/>
          <a:p>
            <a:r>
              <a:rPr lang="en-US" dirty="0"/>
              <a:t>RAG-based Enhancements for Context-Aware Interfaces in Large Language Model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44AE04-C0C9-C584-11D9-7C7B30A8CD5E}"/>
              </a:ext>
            </a:extLst>
          </p:cNvPr>
          <p:cNvSpPr txBox="1"/>
          <p:nvPr/>
        </p:nvSpPr>
        <p:spPr>
          <a:xfrm>
            <a:off x="6096000" y="3646714"/>
            <a:ext cx="560614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Thesis Defense Presentation  </a:t>
            </a: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Siri Priya Katta</a:t>
            </a: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Southern Illinois University, Carbondale</a:t>
            </a: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Computer Science</a:t>
            </a: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Advisor : </a:t>
            </a:r>
            <a:r>
              <a:rPr lang="en-US" sz="2400" dirty="0" err="1">
                <a:latin typeface="Iskoola Pota" panose="020B0502040204020203" pitchFamily="34" charset="0"/>
                <a:cs typeface="Iskoola Pota" panose="020B0502040204020203" pitchFamily="34" charset="0"/>
              </a:rPr>
              <a:t>Dr.Henry</a:t>
            </a:r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 Hexmoor</a:t>
            </a: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Members of Committee : </a:t>
            </a: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                                   </a:t>
            </a:r>
            <a:r>
              <a:rPr lang="en-US" sz="2400" dirty="0" err="1">
                <a:latin typeface="Iskoola Pota" panose="020B0502040204020203" pitchFamily="34" charset="0"/>
                <a:cs typeface="Iskoola Pota" panose="020B0502040204020203" pitchFamily="34" charset="0"/>
              </a:rPr>
              <a:t>Dr.Bidyut</a:t>
            </a:r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 </a:t>
            </a:r>
            <a:r>
              <a:rPr lang="en-US" sz="2400" dirty="0" err="1">
                <a:latin typeface="Iskoola Pota" panose="020B0502040204020203" pitchFamily="34" charset="0"/>
                <a:cs typeface="Iskoola Pota" panose="020B0502040204020203" pitchFamily="34" charset="0"/>
              </a:rPr>
              <a:t>Guptha</a:t>
            </a:r>
            <a:endParaRPr lang="en-US" sz="2400" dirty="0">
              <a:latin typeface="Iskoola Pota" panose="020B0502040204020203" pitchFamily="34" charset="0"/>
              <a:cs typeface="Iskoola Pota" panose="020B0502040204020203" pitchFamily="34" charset="0"/>
            </a:endParaRPr>
          </a:p>
          <a:p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                                   </a:t>
            </a:r>
            <a:r>
              <a:rPr lang="en-US" sz="2400" dirty="0" err="1">
                <a:latin typeface="Iskoola Pota" panose="020B0502040204020203" pitchFamily="34" charset="0"/>
                <a:cs typeface="Iskoola Pota" panose="020B0502040204020203" pitchFamily="34" charset="0"/>
              </a:rPr>
              <a:t>Dr.Koushik</a:t>
            </a:r>
            <a:r>
              <a:rPr lang="en-US" sz="2400" dirty="0">
                <a:latin typeface="Iskoola Pota" panose="020B0502040204020203" pitchFamily="34" charset="0"/>
                <a:cs typeface="Iskoola Pota" panose="020B0502040204020203" pitchFamily="34" charset="0"/>
              </a:rPr>
              <a:t> Sinha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97761-0B88-A5E8-0B78-C39173D05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5583" y="737115"/>
            <a:ext cx="4640418" cy="5407091"/>
          </a:xfrm>
        </p:spPr>
        <p:txBody>
          <a:bodyPr>
            <a:normAutofit/>
          </a:bodyPr>
          <a:lstStyle/>
          <a:p>
            <a:r>
              <a:rPr lang="en-US" sz="4000" dirty="0">
                <a:cs typeface="Aldhabi" panose="020F0502020204030204" pitchFamily="2" charset="-78"/>
              </a:rPr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A04E6-CD61-B962-4287-DEC1993C32D6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442890" y="976601"/>
            <a:ext cx="4449712" cy="5407091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this Challenge Matters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Comparative Insights &amp; Identified Gaps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Framework &amp; Work Done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State-of-the-Art: Graph RAG &amp; Advanced Reasoning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Key Findings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4601E-33F5-5714-867D-A0B584DA7C1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74552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0E47E-D228-15EB-5886-33E9AA181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265923"/>
            <a:ext cx="11059886" cy="64847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Introduction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7151D4-446C-0C2E-55D4-A49E266CE2BF}"/>
              </a:ext>
            </a:extLst>
          </p:cNvPr>
          <p:cNvSpPr txBox="1"/>
          <p:nvPr/>
        </p:nvSpPr>
        <p:spPr>
          <a:xfrm>
            <a:off x="1393371" y="1690062"/>
            <a:ext cx="1005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Tx/>
              <a:buChar char="-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5D1070B6-F5DD-3458-CF59-551EE9BBB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3371" y="1344423"/>
            <a:ext cx="100584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have achieved remarkable success in understanding and generating human-like text.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However, they often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hallucinate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or produce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factually incorrect answers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when relying only on internal training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limitation by allowing LLMs to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retrieve external knowledge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during response generation.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thesis explores how RAG frameworks and their extensions can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factuality and reasoning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 LLMs through better context handling and retrieval integration.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study includes a comparative analysis of existing RAG architectures and the emerging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RAG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approaches to establish a clearer understanding of their impact on context-aware reasoning.</a:t>
            </a:r>
          </a:p>
        </p:txBody>
      </p:sp>
    </p:spTree>
    <p:extLst>
      <p:ext uri="{BB962C8B-B14F-4D97-AF65-F5344CB8AC3E}">
        <p14:creationId xmlns:p14="http://schemas.microsoft.com/office/powerpoint/2010/main" val="3752118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D311DB6A-0441-BFAC-F15B-495CFFC3A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0977" y="94538"/>
            <a:ext cx="8655510" cy="1196199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cs typeface="Times New Roman" panose="02020603050405020304" pitchFamily="18" charset="0"/>
              </a:rPr>
              <a:t>RAG Architecture: At a Glance</a:t>
            </a:r>
          </a:p>
        </p:txBody>
      </p:sp>
      <p:pic>
        <p:nvPicPr>
          <p:cNvPr id="9" name="Picture Placeholder 8" descr="A diagram of a diagram&#10;&#10;AI-generated content may be incorrect.">
            <a:extLst>
              <a:ext uri="{FF2B5EF4-FFF2-40B4-BE49-F238E27FC236}">
                <a16:creationId xmlns:a16="http://schemas.microsoft.com/office/drawing/2014/main" id="{9D7AAD66-A071-2098-96B7-7BB65383966B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3311671" y="1138337"/>
            <a:ext cx="6265343" cy="4119463"/>
          </a:xfrm>
          <a:noFill/>
        </p:spPr>
      </p:pic>
      <p:sp>
        <p:nvSpPr>
          <p:cNvPr id="19" name="Slide Number Placeholder 3">
            <a:extLst>
              <a:ext uri="{FF2B5EF4-FFF2-40B4-BE49-F238E27FC236}">
                <a16:creationId xmlns:a16="http://schemas.microsoft.com/office/drawing/2014/main" id="{93E89905-8BB9-EFA0-0107-70AA232121A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2611EB-5B23-5E83-CEFB-4D55D4475141}"/>
              </a:ext>
            </a:extLst>
          </p:cNvPr>
          <p:cNvSpPr txBox="1"/>
          <p:nvPr/>
        </p:nvSpPr>
        <p:spPr>
          <a:xfrm>
            <a:off x="1479091" y="5579850"/>
            <a:ext cx="1039874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 pipelines consist of two key stages — a retriever that fetches relevant documents from external sources and a generator that synthesizes this information to produce more accurate and context-aware responses.</a:t>
            </a:r>
          </a:p>
        </p:txBody>
      </p:sp>
    </p:spTree>
    <p:extLst>
      <p:ext uri="{BB962C8B-B14F-4D97-AF65-F5344CB8AC3E}">
        <p14:creationId xmlns:p14="http://schemas.microsoft.com/office/powerpoint/2010/main" val="2553469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6548B-3F33-7548-8B8A-FF364D87E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8E106A4-9C79-DB8D-EFCC-2693AB733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7" y="265923"/>
            <a:ext cx="11059886" cy="648477"/>
          </a:xfrm>
        </p:spPr>
        <p:txBody>
          <a:bodyPr>
            <a:noAutofit/>
          </a:bodyPr>
          <a:lstStyle/>
          <a:p>
            <a:pPr algn="ctr"/>
            <a:r>
              <a:rPr lang="en-US" sz="4000" dirty="0"/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DBA58C7-EC9E-7D15-EA1B-20BFDC2EBF53}"/>
              </a:ext>
            </a:extLst>
          </p:cNvPr>
          <p:cNvSpPr txBox="1"/>
          <p:nvPr/>
        </p:nvSpPr>
        <p:spPr>
          <a:xfrm>
            <a:off x="1295400" y="1382485"/>
            <a:ext cx="10058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face challenges in providing accurate and contextually grounded responses in real-world tasks.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offers a promising solution by integrating retrieval mechanisms to fetch relevant external documents in real-time.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existing RAG models still face: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Inefficient retrievals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Poor integration of retrieved content into generation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Limited reasoning enhancement</a:t>
            </a: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thesis addresses these gaps through a comparative study of RAG architectures and an empirical two-stage retrieval experiment, aimed at improving RAG integration and analyzing its impact on retrieval accuracy.</a:t>
            </a:r>
          </a:p>
        </p:txBody>
      </p:sp>
    </p:spTree>
    <p:extLst>
      <p:ext uri="{BB962C8B-B14F-4D97-AF65-F5344CB8AC3E}">
        <p14:creationId xmlns:p14="http://schemas.microsoft.com/office/powerpoint/2010/main" val="337389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728" y="101080"/>
            <a:ext cx="9808773" cy="1427585"/>
          </a:xfrm>
        </p:spPr>
        <p:txBody>
          <a:bodyPr anchor="ctr">
            <a:normAutofit/>
          </a:bodyPr>
          <a:lstStyle/>
          <a:p>
            <a:r>
              <a:rPr lang="en-US" dirty="0"/>
              <a:t>Why This Challenge Matters</a:t>
            </a:r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6CC1361-739F-4680-5360-D994C6D73162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262288" y="1667164"/>
            <a:ext cx="600936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Without strong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context integration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LLMs continue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hallucinate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provide inconsistent answers.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Many domains — healthcare, finance, education — require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accurate, interpretable, and up-to-date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responses.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 architectures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improve factuality by connecting LLMs to external knowledge, but their reasoning ability is still limited.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Enhancing retrieval + generation fusion directly improves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trust, reliability, and real-world deployment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LLMs.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rise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Graph RAG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highlights the next step — reasoning through structured, relational knowledge instead of unlinked text.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6FEE97-0735-5B60-4AA4-40EBECF77C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3754706"/>
              </p:ext>
            </p:extLst>
          </p:nvPr>
        </p:nvGraphicFramePr>
        <p:xfrm>
          <a:off x="7565572" y="1480457"/>
          <a:ext cx="2231571" cy="4234544"/>
        </p:xfrm>
        <a:graphic>
          <a:graphicData uri="http://schemas.openxmlformats.org/drawingml/2006/table">
            <a:tbl>
              <a:tblPr firstRow="1">
                <a:tableStyleId>{3C2FFA5D-87B4-456A-9821-1D502468CF0F}</a:tableStyleId>
              </a:tblPr>
              <a:tblGrid>
                <a:gridCol w="2231571">
                  <a:extLst>
                    <a:ext uri="{9D8B030D-6E8A-4147-A177-3AD203B41FA5}">
                      <a16:colId xmlns:a16="http://schemas.microsoft.com/office/drawing/2014/main" val="3387788890"/>
                    </a:ext>
                  </a:extLst>
                </a:gridCol>
              </a:tblGrid>
              <a:tr h="647960">
                <a:tc>
                  <a:txBody>
                    <a:bodyPr/>
                    <a:lstStyle/>
                    <a:p>
                      <a:r>
                        <a:rPr lang="en-US" dirty="0"/>
                        <a:t>Without 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459507"/>
                  </a:ext>
                </a:extLst>
              </a:tr>
              <a:tr h="119552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knowledge → hallucinations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309786"/>
                  </a:ext>
                </a:extLst>
              </a:tr>
              <a:tr h="119552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Shallow context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6834019"/>
                  </a:ext>
                </a:extLst>
              </a:tr>
              <a:tr h="119552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trust in outputs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724252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795AC31-CA1F-C862-9A9E-DFAD3E87C8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1934191"/>
              </p:ext>
            </p:extLst>
          </p:nvPr>
        </p:nvGraphicFramePr>
        <p:xfrm>
          <a:off x="9797144" y="1480457"/>
          <a:ext cx="2188028" cy="4243002"/>
        </p:xfrm>
        <a:graphic>
          <a:graphicData uri="http://schemas.openxmlformats.org/drawingml/2006/table">
            <a:tbl>
              <a:tblPr firstRow="1">
                <a:tableStyleId>{284E427A-3D55-4303-BF80-6455036E1DE7}</a:tableStyleId>
              </a:tblPr>
              <a:tblGrid>
                <a:gridCol w="2188028">
                  <a:extLst>
                    <a:ext uri="{9D8B030D-6E8A-4147-A177-3AD203B41FA5}">
                      <a16:colId xmlns:a16="http://schemas.microsoft.com/office/drawing/2014/main" val="3469410905"/>
                    </a:ext>
                  </a:extLst>
                </a:gridCol>
              </a:tblGrid>
              <a:tr h="631623">
                <a:tc>
                  <a:txBody>
                    <a:bodyPr/>
                    <a:lstStyle/>
                    <a:p>
                      <a:r>
                        <a:rPr lang="en-US" dirty="0"/>
                        <a:t>With RAG / Graph RAG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1540304"/>
                  </a:ext>
                </a:extLst>
              </a:tr>
              <a:tr h="120097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retrieval → factual 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8511560"/>
                  </a:ext>
                </a:extLst>
              </a:tr>
              <a:tr h="120097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Rich multi-hop reasoning (Graph)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4989077"/>
                  </a:ext>
                </a:extLst>
              </a:tr>
              <a:tr h="120097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Reliable context-aware responses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06639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B061384-8C2A-AC46-D296-2DF95CBF1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225" y="1068388"/>
            <a:ext cx="10115550" cy="2681287"/>
          </a:xfrm>
        </p:spPr>
        <p:txBody>
          <a:bodyPr>
            <a:normAutofit/>
          </a:bodyPr>
          <a:lstStyle/>
          <a:p>
            <a:r>
              <a:rPr lang="en-US" sz="4000" dirty="0"/>
              <a:t>Literature Survey</a:t>
            </a:r>
            <a:endParaRPr lang="en-ZA" sz="4000" dirty="0"/>
          </a:p>
        </p:txBody>
      </p:sp>
    </p:spTree>
    <p:extLst>
      <p:ext uri="{BB962C8B-B14F-4D97-AF65-F5344CB8AC3E}">
        <p14:creationId xmlns:p14="http://schemas.microsoft.com/office/powerpoint/2010/main" val="4011334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050349-7817-287D-7192-7EC701C7E7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0616212"/>
              </p:ext>
            </p:extLst>
          </p:nvPr>
        </p:nvGraphicFramePr>
        <p:xfrm>
          <a:off x="1111864" y="262487"/>
          <a:ext cx="10668000" cy="646176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1947680985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269820824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2501609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3865212983"/>
                    </a:ext>
                  </a:extLst>
                </a:gridCol>
              </a:tblGrid>
              <a:tr h="94115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Contribution / Focus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Approach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Limitation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74576"/>
                  </a:ext>
                </a:extLst>
              </a:tr>
              <a:tr h="1796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al., 2020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(RAG)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Lewis et al., 2020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Retrieval-Augmented Generation (RAG)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Dense Passage Retriever (DPR) + BART generator jointly trained to retrieve and generate grounded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reasoning; shallow context fusion; treats all retrieved docs equally without deeper understanding.</a:t>
                      </a: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963501"/>
                  </a:ext>
                </a:extLst>
              </a:tr>
              <a:tr h="157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Izacard</a:t>
                      </a: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Grave, 2022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Fusion-in-Decoder (</a:t>
                      </a:r>
                      <a:r>
                        <a:rPr lang="en-US" sz="20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FiD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RAG by improving how multiple documents are integrated for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Each retrieved passage encoded separately, and fusion happens in the decoder through multi-document 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Computationally expensive; limited scalability; reasoning still implicit.</a:t>
                      </a: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2411326"/>
                  </a:ext>
                </a:extLst>
              </a:tr>
              <a:tr h="179674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Khattab &amp; Zaharia, 2020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0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ColBERT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(Late Interaction Retrieval)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retrieval efficiency and precision through token-level contextual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Late interaction between query and document embeddings; lightweight scoring using compressed representations.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retrieval; lacks reasoning or integration with generation.</a:t>
                      </a:r>
                    </a:p>
                    <a:p>
                      <a:pPr algn="ctr"/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04822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CED991D-B0B9-0AF2-E3DE-A68ABD7824C9}"/>
              </a:ext>
            </a:extLst>
          </p:cNvPr>
          <p:cNvGraphicFramePr>
            <a:graphicFrameLocks noGrp="1"/>
          </p:cNvGraphicFramePr>
          <p:nvPr>
            <p:ph sz="quarter" idx="12"/>
            <p:extLst>
              <p:ext uri="{D42A27DB-BD31-4B8C-83A1-F6EECF244321}">
                <p14:modId xmlns:p14="http://schemas.microsoft.com/office/powerpoint/2010/main" val="1384356503"/>
              </p:ext>
            </p:extLst>
          </p:nvPr>
        </p:nvGraphicFramePr>
        <p:xfrm>
          <a:off x="1239605" y="332387"/>
          <a:ext cx="10398744" cy="6263126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599686">
                  <a:extLst>
                    <a:ext uri="{9D8B030D-6E8A-4147-A177-3AD203B41FA5}">
                      <a16:colId xmlns:a16="http://schemas.microsoft.com/office/drawing/2014/main" val="3376323468"/>
                    </a:ext>
                  </a:extLst>
                </a:gridCol>
                <a:gridCol w="2599686">
                  <a:extLst>
                    <a:ext uri="{9D8B030D-6E8A-4147-A177-3AD203B41FA5}">
                      <a16:colId xmlns:a16="http://schemas.microsoft.com/office/drawing/2014/main" val="2973456816"/>
                    </a:ext>
                  </a:extLst>
                </a:gridCol>
                <a:gridCol w="2599686">
                  <a:extLst>
                    <a:ext uri="{9D8B030D-6E8A-4147-A177-3AD203B41FA5}">
                      <a16:colId xmlns:a16="http://schemas.microsoft.com/office/drawing/2014/main" val="35152272"/>
                    </a:ext>
                  </a:extLst>
                </a:gridCol>
                <a:gridCol w="2599686">
                  <a:extLst>
                    <a:ext uri="{9D8B030D-6E8A-4147-A177-3AD203B41FA5}">
                      <a16:colId xmlns:a16="http://schemas.microsoft.com/office/drawing/2014/main" val="2220157080"/>
                    </a:ext>
                  </a:extLst>
                </a:gridCol>
              </a:tblGrid>
              <a:tr h="7819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Paper / Work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Contribution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/ 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Limitation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3934883"/>
                  </a:ext>
                </a:extLst>
              </a:tr>
              <a:tr h="164073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Shuster et al., 2023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Faithful Chain-of-Thought Reasoning via Retrieval-Augmentation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Combined factual retrieval with transparent, step-by-step reasoning to improve reasoning faithfulness.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Integrates chain-of-thought prompting with retrieval at each reasoning step to ground intermediate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computation; no explicit structural reasoning; reasoning still text-based.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427790"/>
                  </a:ext>
                </a:extLst>
              </a:tr>
              <a:tr h="164073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Zhu et al., 2024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GraphRAG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for Knowledge-Intensive Reasoning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Introduced graph-based retrieval — representing knowledge as entities and relationships for structured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Builds knowledge graphs, retrieves subgraphs (nodes + neighbors), converts to text/embeddings for LLM input.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knowledge graph construction; domain-limited; structure-to-text conversion loses some information.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8200113"/>
                  </a:ext>
                </a:extLst>
              </a:tr>
              <a:tr h="1640734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 et al., 2024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Enhanced </a:t>
                      </a:r>
                      <a:r>
                        <a:rPr lang="en-US" sz="2000" i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GraphRAG</a:t>
                      </a:r>
                      <a:r>
                        <a:rPr lang="en-US" sz="20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(Microsoft Research)</a:t>
                      </a: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graph-structured and text-based retrieval for hybrid reasoning and factual grounding.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Two-stage retrieval (graph + text), graph embeddings fused with LLM attention for structural reasoning.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Heavy preprocessing; complex integration; limited generalization to open-domain tasks.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454506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F288D9-B14B-C85E-09FA-22D66187612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135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8D81-FDAE-1ADF-A68E-9C18D0AA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3" y="329681"/>
            <a:ext cx="9808773" cy="941771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Recent Advances in Retrieval-Augmented Generation (2025)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78B0E-BD6F-7FD2-FA5C-9D7EB0B5B87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227909" y="1271451"/>
            <a:ext cx="10241279" cy="5085805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Paper: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Sharma, C. (2025)</a:t>
            </a:r>
            <a:b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Generation: A Comprehensive Survey of Architectures, Enhancements, and Robustness Frontiers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Bef>
                <a:spcPts val="0"/>
              </a:spcBef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Contribution: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taxonomy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RAG architectures covering retrieval strategies, fusion mechanisms, and reasoning-aware enhancements</a:t>
            </a:r>
          </a:p>
          <a:p>
            <a:pPr marL="285750" indent="-285750"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limitations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existing RAG systems, including shallow context fusion, redundant retrievals, and limited multi-hop reasoning</a:t>
            </a:r>
          </a:p>
          <a:p>
            <a:pPr marL="285750" indent="-285750">
              <a:spcBef>
                <a:spcPts val="400"/>
              </a:spcBef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Consolidates state-of-the-art RAG developments up to 2025</a:t>
            </a:r>
          </a:p>
          <a:p>
            <a:pPr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Limitations: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empirical evaluation or unified benchmarking</a:t>
            </a:r>
          </a:p>
          <a:p>
            <a:pPr marL="285750" indent="-28575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propose an integrated end-to-end RAG framework</a:t>
            </a:r>
          </a:p>
          <a:p>
            <a:pPr marL="285750" indent="-285750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discussion of scalability and deployment constraints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6F1954-9A49-CD9D-9474-7D965986023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2529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25586-F20A-D34A-E4A7-3463A86CB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3798" y="-32657"/>
            <a:ext cx="9808773" cy="1427585"/>
          </a:xfrm>
        </p:spPr>
        <p:txBody>
          <a:bodyPr/>
          <a:lstStyle/>
          <a:p>
            <a:r>
              <a:rPr lang="en-US" dirty="0"/>
              <a:t>Comparative Insights &amp; Identified Gaps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B4F155-2D0E-0FD9-7ED9-458F90230C90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502527" y="1394928"/>
            <a:ext cx="9600901" cy="4571999"/>
          </a:xfrm>
        </p:spPr>
        <p:txBody>
          <a:bodyPr>
            <a:normAutofit fontScale="25000" lnSpcReduction="20000"/>
          </a:bodyPr>
          <a:lstStyle/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RAG models (Lewis et al.,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ColBERT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improved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accuracy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but relied on 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linear document fusion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offered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reasoning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multi-document understanding through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decoder-level fusion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but reasoning remained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-RAG introduced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step-by-step reasoning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improving transparency and factual grounding.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Enhanced </a:t>
            </a:r>
            <a:r>
              <a:rPr lang="en-US" sz="8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GraphRAG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incorporated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retrieval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knowledge graphs, enabling </a:t>
            </a:r>
            <a:r>
              <a:rPr lang="en-US" sz="8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multi-hop and relational reasoning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Recent works highlight a trend from 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retrieval-focused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reasoning-aware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8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graph-integrated</a:t>
            </a:r>
            <a:r>
              <a:rPr lang="en-US" sz="8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systems.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F19000-85A3-F779-8B16-CE8411AA5A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778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0C257-C641-4841-048F-9F17AE74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0C08F12-A5C8-93D6-8A0B-8D8BCEAE5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671" y="96778"/>
            <a:ext cx="9808773" cy="117420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Proposed Framework &amp; Work Done</a:t>
            </a:r>
            <a:endParaRPr lang="en-ZA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6789D-4103-1BD0-A426-9A2B3E10ACA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C19D92-B3D2-7534-C36D-F2DF31EF52D9}"/>
              </a:ext>
            </a:extLst>
          </p:cNvPr>
          <p:cNvSpPr>
            <a:spLocks noGrp="1" noChangeArrowheads="1"/>
          </p:cNvSpPr>
          <p:nvPr>
            <p:ph sz="quarter" idx="11"/>
          </p:nvPr>
        </p:nvSpPr>
        <p:spPr bwMode="auto">
          <a:xfrm>
            <a:off x="1273629" y="1104266"/>
            <a:ext cx="10112815" cy="5657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Formulated a Two-Stage Retrieval Pipeline combining dense passage retrieval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reranking for improved context selection.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Setup: Evaluated on the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CoQA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question-answering dataset with 437 context paragraphs and 100 benchmark questions.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Retrieval Stage: Generated embeddings using MiniLM-L6-v2 to compute semantic similarity between queries and passages.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Reranking Stage: Applied a pre-trained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to re-rank the top retrieved passages and select the most relevant context.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 Compared baseline (dense retrieval only) vs. two-stage (dense + reranking) using Hit@1 and EM@1 scores.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Implementation: Implemented end-to-end pipeline with efficient candidate retrieval followed by cross-attention reranking for refined passage selection.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10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EB69-EEF9-426E-4799-69990D623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9774" y="460310"/>
            <a:ext cx="9808773" cy="715348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>
                <a:cs typeface="Times New Roman" panose="02020603050405020304" pitchFamily="18" charset="0"/>
              </a:rPr>
              <a:t>Baseline vs Two-Stage Architecture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79847D-5721-084E-F699-D1CDE50C5D0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7FBFB0D-0836-B0AF-ED33-04C7CBE0AFF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4" y="1079863"/>
            <a:ext cx="8259036" cy="3744686"/>
          </a:xfrm>
        </p:spPr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Retrieval (Dense Similarity Search)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 to compute cosine similarity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Selects Top-1 most similar passage for each question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is single-pass, shallow, and purely similarity-based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but lacks cross-attention filtering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Retrieval (Dense + Reranking)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stage: retrieves Top-5 candidate passages using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Reranking stage: applies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score and select Top-1 best match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cross-attention mechanism for refined passage selection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but significantly more accurate context matching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2594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088DF-6256-41A7-6DFB-250BF0B26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676380"/>
            <a:ext cx="9808773" cy="1100661"/>
          </a:xfrm>
        </p:spPr>
        <p:txBody>
          <a:bodyPr/>
          <a:lstStyle/>
          <a:p>
            <a:pPr algn="ctr"/>
            <a:r>
              <a:rPr lang="en-US" dirty="0"/>
              <a:t>Scientific Contributions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8D5650-3EF7-BCBB-B2AF-B5F246B2329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A0E11FD0-1A3C-93CA-14A7-8E82456B7785}"/>
              </a:ext>
            </a:extLst>
          </p:cNvPr>
          <p:cNvSpPr>
            <a:spLocks noGrp="1" noChangeArrowheads="1"/>
          </p:cNvSpPr>
          <p:nvPr>
            <p:ph sz="quarter" idx="12"/>
          </p:nvPr>
        </p:nvSpPr>
        <p:spPr bwMode="auto">
          <a:xfrm>
            <a:off x="1468814" y="1950915"/>
            <a:ext cx="9564748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Systematic evaluation of retrieval quality in RAG pipelines using a controlled two-stage retrieval framework (dense retriever + cross-encoder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reranker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on the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CoQA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conversational QA dataset.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Empirical evidence that reranking significantly improves top-1 retrieval accuracy, demonstrating measurable gains in Hit@1 and EM@1 without retraining any models.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Component-level analysis of retrieval vs. generation, showing that retrieval quality dominates downstream answer correctness when generation context is fixed.</a:t>
            </a: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Comparative positioning of practical RAG systems, connecting experimental findings to real-world architectures such as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emerging Graph RAG systems.</a:t>
            </a:r>
          </a:p>
        </p:txBody>
      </p:sp>
    </p:spTree>
    <p:extLst>
      <p:ext uri="{BB962C8B-B14F-4D97-AF65-F5344CB8AC3E}">
        <p14:creationId xmlns:p14="http://schemas.microsoft.com/office/powerpoint/2010/main" val="3216557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B6C10-9DA1-A35E-448C-A82C7297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27" y="434842"/>
            <a:ext cx="9808773" cy="815990"/>
          </a:xfrm>
        </p:spPr>
        <p:txBody>
          <a:bodyPr/>
          <a:lstStyle/>
          <a:p>
            <a:pPr algn="ctr"/>
            <a:r>
              <a:rPr lang="en-US" dirty="0"/>
              <a:t>Experimental Setup and Data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C1E722-7475-89BF-12FB-87955F1AA98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2CD6EC64-8509-2D41-B6C4-064E2DA4FFB9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438" y="1419497"/>
            <a:ext cx="9809162" cy="5176017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CoQA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(Conversational Question Answering) dataset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Contains multi-turn questions grounded in narrative passages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subset: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437 unique context passages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 benchmark questions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manually verified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Models (Pretrained, No Fine-Tuning)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Retriever: all-MiniLM-L6-v2 (bi-encoder)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Reranker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cross-encoder/ms-marco-MiniLM-L-6-v2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Protocol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Baseline: Dense retrieval (Top-1 by cosine similarity)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Two-stage: Dense retrieval (Top-5)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reranking (Top-1) </a:t>
            </a:r>
          </a:p>
          <a:p>
            <a:pPr marL="0" indent="0" algn="just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Collection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queries, same dataset, same metrics. Only retrieval strategy varied to ensure controlled comparison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49086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0FA5E-EB8E-859B-DFDB-FEEAF1E3A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785017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Evaluation Methodology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30A533-D823-093E-FA89-959AC1316AE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91613" y="1288869"/>
            <a:ext cx="9808773" cy="4467496"/>
          </a:xfrm>
        </p:spPr>
        <p:txBody>
          <a:bodyPr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Robustness &amp; Validation: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Bootstrap resampling: 30 iterations with replacement over 100 questions</a:t>
            </a:r>
          </a:p>
          <a:p>
            <a:pPr marL="285750" indent="-28575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Extended metrics: Precision, Recall, F1 score computed alongside Hit@1/EM@1</a:t>
            </a: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results are stable and not dependent on specific question splits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Used: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Hit@1: Does the top-1 retrieved passage contain the correct answer span?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EM@1 (Exact Match): Is the retrieved passage the exact match for the gold standard answer?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Setup: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Benchmark: 100 representative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CoQA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questions across diverse topics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types: factual, reasoning, multi-hop understanding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truth: manually verified passages containing correct answers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Comparison: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Baseline: Dense retrieval only (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MiniLM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Top-1)</a:t>
            </a:r>
          </a:p>
          <a:p>
            <a:pPr marL="342900" indent="-34290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Reranked: Dense retrieval +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reranking (Top-1 after reranking)</a:t>
            </a: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86A7A-1C58-DBED-A779-C8CF03A7215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481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FA687-92DC-74F9-ADC3-D1A42A078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1613" y="399349"/>
            <a:ext cx="9808773" cy="70663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/>
              <a:t>Results Summary Table</a:t>
            </a:r>
            <a:br>
              <a:rPr lang="en-US" dirty="0"/>
            </a:b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39CFA-3A04-CB3C-400C-7B3907ADA4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EFC1DB-A5D5-DB69-E910-B697308407E1}"/>
              </a:ext>
            </a:extLst>
          </p:cNvPr>
          <p:cNvSpPr txBox="1"/>
          <p:nvPr/>
        </p:nvSpPr>
        <p:spPr>
          <a:xfrm>
            <a:off x="1381119" y="3781890"/>
            <a:ext cx="9887538" cy="358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Two-stage reranking improves Hit@1 by 9 percentage points (27% → 36%)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Exact match accuracy increases by 6 percentage points (25% → 31%)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reranking effectively filters noisy dense retrieval candidates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Robustness: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validated through bootstrap resampling (30 iterations with replacement) 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ensure stable and generalizable performance across different question subsets.</a:t>
            </a:r>
          </a:p>
          <a:p>
            <a:br>
              <a:rPr lang="en-US" dirty="0"/>
            </a:b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374ECAC4-5833-E399-1A3B-8A2E37BBA286}"/>
              </a:ext>
            </a:extLst>
          </p:cNvPr>
          <p:cNvGraphicFramePr>
            <a:graphicFrameLocks noGrp="1"/>
          </p:cNvGraphicFramePr>
          <p:nvPr>
            <p:ph sz="quarter" idx="11"/>
            <p:extLst>
              <p:ext uri="{D42A27DB-BD31-4B8C-83A1-F6EECF244321}">
                <p14:modId xmlns:p14="http://schemas.microsoft.com/office/powerpoint/2010/main" val="3200163756"/>
              </p:ext>
            </p:extLst>
          </p:nvPr>
        </p:nvGraphicFramePr>
        <p:xfrm>
          <a:off x="1756511" y="988604"/>
          <a:ext cx="8127716" cy="2536190"/>
        </p:xfrm>
        <a:graphic>
          <a:graphicData uri="http://schemas.openxmlformats.org/drawingml/2006/table">
            <a:tbl>
              <a:tblPr firstRow="1" bandRow="1">
                <a:tableStyleId>{0E3FDE45-AF77-4B5C-9715-49D594BDF05E}</a:tableStyleId>
              </a:tblPr>
              <a:tblGrid>
                <a:gridCol w="2031929">
                  <a:extLst>
                    <a:ext uri="{9D8B030D-6E8A-4147-A177-3AD203B41FA5}">
                      <a16:colId xmlns:a16="http://schemas.microsoft.com/office/drawing/2014/main" val="2468556219"/>
                    </a:ext>
                  </a:extLst>
                </a:gridCol>
                <a:gridCol w="2031929">
                  <a:extLst>
                    <a:ext uri="{9D8B030D-6E8A-4147-A177-3AD203B41FA5}">
                      <a16:colId xmlns:a16="http://schemas.microsoft.com/office/drawing/2014/main" val="1717435713"/>
                    </a:ext>
                  </a:extLst>
                </a:gridCol>
                <a:gridCol w="2031929">
                  <a:extLst>
                    <a:ext uri="{9D8B030D-6E8A-4147-A177-3AD203B41FA5}">
                      <a16:colId xmlns:a16="http://schemas.microsoft.com/office/drawing/2014/main" val="3882429092"/>
                    </a:ext>
                  </a:extLst>
                </a:gridCol>
                <a:gridCol w="2031929">
                  <a:extLst>
                    <a:ext uri="{9D8B030D-6E8A-4147-A177-3AD203B41FA5}">
                      <a16:colId xmlns:a16="http://schemas.microsoft.com/office/drawing/2014/main" val="2560159647"/>
                    </a:ext>
                  </a:extLst>
                </a:gridCol>
              </a:tblGrid>
              <a:tr h="61631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Two-stage Reranked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Relative gain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8625714"/>
                  </a:ext>
                </a:extLst>
              </a:tr>
              <a:tr h="37922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Hit@1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0.270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0.360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7781683"/>
                  </a:ext>
                </a:extLst>
              </a:tr>
              <a:tr h="37922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EM@1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0.250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0.310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+24%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0395558"/>
                  </a:ext>
                </a:extLst>
              </a:tr>
              <a:tr h="37922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Precision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1.000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1.000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5007114"/>
                  </a:ext>
                </a:extLst>
              </a:tr>
              <a:tr h="37922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Recall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0.270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0.360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+33%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3069304"/>
                  </a:ext>
                </a:extLst>
              </a:tr>
              <a:tr h="379222"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F1 Score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>
                          <a:effectLst/>
                        </a:rPr>
                        <a:t>0.425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 fontAlgn="base" latinLnBrk="0">
                        <a:buNone/>
                      </a:pPr>
                      <a:r>
                        <a:rPr lang="en-US" dirty="0">
                          <a:effectLst/>
                        </a:rPr>
                        <a:t>0.529</a:t>
                      </a:r>
                    </a:p>
                  </a:txBody>
                  <a:tcPr marL="60960" marR="609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+25%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72542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25641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2699C5-FE77-3692-2D4D-5BAC79ADE0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Quantitative Visualization</a:t>
            </a: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5348B3-DFD5-7E6D-EF31-CB837092D4A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468814" y="2057401"/>
            <a:ext cx="4627186" cy="4119463"/>
          </a:xfrm>
        </p:spPr>
        <p:txBody>
          <a:bodyPr>
            <a:normAutofit lnSpcReduction="10000"/>
          </a:bodyPr>
          <a:lstStyle/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Hit@1 Improvement: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33% relative gain shows reranking significantly improves top-1 passage selection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EM@1 Improvement: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24% relative gain confirms better grounding in exact answer spans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Consistency: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metrics improve, indicating stable and robust reranking performance.</a:t>
            </a:r>
          </a:p>
          <a:p>
            <a:pPr marL="285750" indent="-285750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Impact: 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every 10 questions, baseline correctly retrieves ~3, reranked retrieves ~4 — a measurable boost in retrieval accuracy</a:t>
            </a:r>
          </a:p>
          <a:p>
            <a:pPr>
              <a:lnSpc>
                <a:spcPct val="90000"/>
              </a:lnSpc>
            </a:pPr>
            <a:endParaRPr lang="en-US" sz="1700" dirty="0"/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59A616AD-87FC-F560-1017-5A1173BA30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1774" y="2135778"/>
            <a:ext cx="5520908" cy="3685205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CC673A-0FC4-98C7-B79E-272CFF8BC9C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680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53139-0548-51BD-8EA9-113DA4A210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28" y="307909"/>
            <a:ext cx="9808773" cy="170594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State-of-the-Art: </a:t>
            </a:r>
            <a:r>
              <a:rPr lang="en-US" dirty="0" err="1"/>
              <a:t>NotebookLM</a:t>
            </a:r>
            <a:r>
              <a:rPr lang="en-US" dirty="0"/>
              <a:t> – Real-World Application of Retrieval-Augmented Generation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506592-648D-4AF4-FB20-8229E8D7DEB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DE581CC-6B52-6F0B-E54F-B01DCC1DA726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589315" y="1931438"/>
            <a:ext cx="9688286" cy="4245526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(by Google Labs) is an AI-powered research assistant that helps users work with their own sources.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upload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PDFs, Docs, Slides, or websites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system answers questions, generates summaries, and creates connections between ideas.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as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Retrieval-Augmented Generation (RAG)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— retrieving relevant sections from uploaded materials and generating contextual responses.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like “Mind Maps” and “Audio Overviews”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exploring relationships and summarizing topics interactively.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8236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5F221-BA66-E046-850D-9A207437B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3"/>
            <a:ext cx="9808773" cy="1054982"/>
          </a:xfrm>
        </p:spPr>
        <p:txBody>
          <a:bodyPr anchor="ctr">
            <a:normAutofit/>
          </a:bodyPr>
          <a:lstStyle/>
          <a:p>
            <a:pPr algn="ctr"/>
            <a:r>
              <a:rPr lang="en-US" dirty="0" err="1"/>
              <a:t>NotebookLM</a:t>
            </a:r>
            <a:r>
              <a:rPr lang="en-US" dirty="0"/>
              <a:t> RAG Algorithm</a:t>
            </a:r>
          </a:p>
        </p:txBody>
      </p:sp>
      <p:sp>
        <p:nvSpPr>
          <p:cNvPr id="10" name="AutoShape 4" descr="Output image">
            <a:extLst>
              <a:ext uri="{FF2B5EF4-FFF2-40B4-BE49-F238E27FC236}">
                <a16:creationId xmlns:a16="http://schemas.microsoft.com/office/drawing/2014/main" id="{602978F8-AB1D-0690-A573-2607F37AD87F}"/>
              </a:ext>
            </a:extLst>
          </p:cNvPr>
          <p:cNvSpPr>
            <a:spLocks noGrp="1" noChangeAspect="1" noChangeArrowheads="1"/>
          </p:cNvSpPr>
          <p:nvPr>
            <p:ph sz="quarter" idx="12"/>
          </p:nvPr>
        </p:nvSpPr>
        <p:spPr bwMode="auto">
          <a:xfrm>
            <a:off x="1468814" y="1558835"/>
            <a:ext cx="4864398" cy="4876799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algn="just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Ingestion &amp; Normalization</a:t>
            </a:r>
          </a:p>
          <a:p>
            <a:pPr marL="285750" indent="-28575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User-provided sources (PDFs, Docs, Slides, Web pages, transcripts) are parsed into structured text units (sections, headings, timestamps).</a:t>
            </a:r>
          </a:p>
          <a:p>
            <a:pPr marL="285750" indent="-28575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 is cleaned, segmented, and annotated to form a per-notebook corpus.</a:t>
            </a:r>
          </a:p>
          <a:p>
            <a:pPr algn="just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Chunking &amp; Representation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Documents are chunked into semantically coherent spans rather than fixed windows.</a:t>
            </a:r>
          </a:p>
          <a:p>
            <a:pPr marL="285750" indent="-285750" algn="just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chunk is embedded using dense encoders and stored with metadata in a vector index.</a:t>
            </a:r>
          </a:p>
          <a:p>
            <a:pPr algn="just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Query Analysis &amp; Rewriting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query is analyzed to infer intent and scope.</a:t>
            </a:r>
          </a:p>
          <a:p>
            <a:pPr marL="285750" indent="-285750" algn="just">
              <a:lnSpc>
                <a:spcPct val="110000"/>
              </a:lnSpc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rewritten queries are generated to improve retrieval coverage.</a:t>
            </a:r>
          </a:p>
          <a:p>
            <a:pPr>
              <a:lnSpc>
                <a:spcPct val="90000"/>
              </a:lnSpc>
            </a:pPr>
            <a:endParaRPr lang="en-US" sz="1400" dirty="0"/>
          </a:p>
        </p:txBody>
      </p:sp>
      <p:pic>
        <p:nvPicPr>
          <p:cNvPr id="12" name="Picture 11" descr="The diagram illustrates the NotebookLM RAG Pipeline, a multi-step process for converting user input into structured, semantic, and contextually relevant answers, involving steps like ingestion, normalization, query analysis, hybrid retrieval, and generation.&#10;&#10;AI-generated content may be incorrect.">
            <a:extLst>
              <a:ext uri="{FF2B5EF4-FFF2-40B4-BE49-F238E27FC236}">
                <a16:creationId xmlns:a16="http://schemas.microsoft.com/office/drawing/2014/main" id="{2A804E47-A58D-7493-D7D8-6C9EDE9BA0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751" r="8854"/>
          <a:stretch>
            <a:fillRect/>
          </a:stretch>
        </p:blipFill>
        <p:spPr>
          <a:xfrm>
            <a:off x="7350034" y="1931437"/>
            <a:ext cx="4493624" cy="3607213"/>
          </a:xfrm>
          <a:prstGeom prst="rect">
            <a:avLst/>
          </a:prstGeom>
          <a:noFill/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F172E-AC50-BE5C-CB30-98251409287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8D65601-5AE2-46FC-B138-694DDD2B510D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4932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DFCCDE-84E4-6305-6ED9-0A88828279C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7CC3E3-DDEB-F869-2F9F-917FCEEDAE7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438" y="1915886"/>
            <a:ext cx="9809162" cy="4261077"/>
          </a:xfrm>
        </p:spPr>
        <p:txBody>
          <a:bodyPr>
            <a:no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Hybrid Retrieval &amp; Reranking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Dense vector retrieval retrieves candidate chunks.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Lexical and metadata filters refine results.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reranking step reorders top candidates based on semantic relevance.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Context Construction &amp; Grounding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spans are assembled into a grounded context with explicit source references.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instructed to answer strictly from provided sources.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Generation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Gemini generates responses grounded in retrieved content with inline citations.</a:t>
            </a:r>
          </a:p>
          <a:p>
            <a:pPr>
              <a:spcBef>
                <a:spcPts val="400"/>
              </a:spcBef>
              <a:spcAft>
                <a:spcPts val="400"/>
              </a:spcAft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5691385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613A0-0424-8D40-A97E-7B8F37945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1" y="681136"/>
            <a:ext cx="9808773" cy="764487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Limitations of </a:t>
            </a:r>
            <a:r>
              <a:rPr lang="en-US" dirty="0" err="1"/>
              <a:t>NotebookLM</a:t>
            </a:r>
            <a:r>
              <a:rPr lang="en-US" dirty="0"/>
              <a:t> and Motivation for Agentic RAG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5BC431-20D6-90F3-CCB7-D7A9E6DF38F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129178" y="1824138"/>
            <a:ext cx="5193245" cy="4119463"/>
          </a:xfrm>
        </p:spPr>
        <p:txBody>
          <a:bodyPr>
            <a:normAutofit fontScale="85000" lnSpcReduction="20000"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Limitations of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NotebookLM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retrieval pipeline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Query formulation and retrieval strategy are fixed per user request, with no iterative refinement.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decision-making control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Users cannot dynamically select retrieval tools, filters, or external knowledge sources.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Single-pass retrieval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Retrieval and reranking occur once, limiting performance on multi-step or exploratory queries.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reasoning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Reasoning is embedded within generation, without explicit planning or intermediate verification steps.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683D6-1521-C9C4-4288-6622B46D2FF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703C7E1-D215-1EB2-363C-4B724F7D77E5}"/>
              </a:ext>
            </a:extLst>
          </p:cNvPr>
          <p:cNvSpPr txBox="1"/>
          <p:nvPr/>
        </p:nvSpPr>
        <p:spPr>
          <a:xfrm>
            <a:off x="6801394" y="1834784"/>
            <a:ext cx="505968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Motivation for Agentic RAG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iterative query refinement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intermediate retrieval results.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tool and retriever selection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different information needs.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multi-step reasoning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retrieval cycles.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handling of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complex, compositional, and exploratory tasks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246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5ACBE-7A5D-45DD-1670-37F549DFE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5" y="253793"/>
            <a:ext cx="9808773" cy="854685"/>
          </a:xfrm>
        </p:spPr>
        <p:txBody>
          <a:bodyPr/>
          <a:lstStyle/>
          <a:p>
            <a:pPr algn="ctr"/>
            <a:r>
              <a:rPr lang="en-US" dirty="0"/>
              <a:t>Beyond Standard RAG: Agentic RAG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20775-3DF9-4972-0AC8-57C6F37713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468811" y="1280161"/>
            <a:ext cx="9808773" cy="4896704"/>
          </a:xfrm>
        </p:spPr>
        <p:txBody>
          <a:bodyPr>
            <a:normAutofit lnSpcReduction="10000"/>
          </a:bodyPr>
          <a:lstStyle/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Conceptual Difference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RAG: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Single-shot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 → generate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pipeline with no explicit planning or verification</a:t>
            </a: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RAG: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Planner–retriever–tool–critic loop where agents decide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to retrieve, when to retrieve, and how to verify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Outcomes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factual accuracy and grounding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iterative retrieval and self-critique</a:t>
            </a: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higher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completion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complex, multi-step queries (e.g., policy reasoning, troubleshooting)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Signals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RAG: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Recall@K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nDCG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EM, faithfulness metrics</a:t>
            </a: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Agentic RAG: End-to-end task success, error reduction, human-aligned or LLM-as-judge evaluation</a:t>
            </a:r>
          </a:p>
          <a:p>
            <a:pPr>
              <a:spcBef>
                <a:spcPts val="400"/>
              </a:spcBef>
              <a:spcAft>
                <a:spcPts val="600"/>
              </a:spcAft>
            </a:pP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Trade-offs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latency and cost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due to multiple retrieval and reasoning loops</a:t>
            </a:r>
          </a:p>
          <a:p>
            <a:pPr marL="285750" indent="-285750">
              <a:spcBef>
                <a:spcPts val="4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engineering and orchestration complexity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00BD76-BB47-3BBD-DE1D-3A6B1CACB7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9559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FFCC8-C04D-0071-3B14-4AF828E00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3" y="317585"/>
            <a:ext cx="9808773" cy="835091"/>
          </a:xfrm>
        </p:spPr>
        <p:txBody>
          <a:bodyPr>
            <a:normAutofit/>
          </a:bodyPr>
          <a:lstStyle/>
          <a:p>
            <a:pPr algn="ctr"/>
            <a:r>
              <a:rPr lang="en-US" sz="4000" dirty="0"/>
              <a:t>Conclusion</a:t>
            </a:r>
            <a:endParaRPr lang="en-ZA" sz="40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9D6A759-37B6-1E14-BD05-D652BEECEA3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8D65601-5AE2-46FC-B138-694DDD2B510D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9B026CB-F489-AFDD-A987-7B29237217F0}"/>
              </a:ext>
            </a:extLst>
          </p:cNvPr>
          <p:cNvSpPr>
            <a:spLocks noGrp="1" noChangeArrowheads="1"/>
          </p:cNvSpPr>
          <p:nvPr>
            <p:ph sz="quarter" idx="10"/>
          </p:nvPr>
        </p:nvSpPr>
        <p:spPr bwMode="auto">
          <a:xfrm>
            <a:off x="1468813" y="1337390"/>
            <a:ext cx="9368519" cy="50167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thesis analyzed multiple Retrieval-Augmented Generation (RAG) frameworks to understand how retrieval affects reasoning and factual grounding in LLMs.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comparative study across six key papers showed that while RAG improves factual accuracy, challenges remain in context fusion and multi-hop reasoning.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Beyond theory, an empirical two-stage retrieval pipeline (dense +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CrossEncoder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reranking) was implemented and evaluated on 100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CoQA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questions, improving Hit@1 from 0.27 to 0.36 and EM@1 from 0.25 to 0.31.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results demonstrate that better retrieval integration alone can measurably boost answer quality, even without full graph-based RAG.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research outlines how future RAG systems can combine such empirical designs with structured approaches like Graph RAG to achieve more context-aware, reliable, and interpretable LLM applications.</a:t>
            </a:r>
          </a:p>
        </p:txBody>
      </p:sp>
    </p:spTree>
    <p:extLst>
      <p:ext uri="{BB962C8B-B14F-4D97-AF65-F5344CB8AC3E}">
        <p14:creationId xmlns:p14="http://schemas.microsoft.com/office/powerpoint/2010/main" val="952135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101732C-7338-DBA0-BD19-1FA883047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4408" y="1354495"/>
            <a:ext cx="5284792" cy="1584649"/>
          </a:xfrm>
        </p:spPr>
        <p:txBody>
          <a:bodyPr>
            <a:noAutofit/>
          </a:bodyPr>
          <a:lstStyle/>
          <a:p>
            <a:r>
              <a:rPr lang="en-US" sz="7200" dirty="0">
                <a:latin typeface="Algerian" panose="04020705040A02060702" pitchFamily="82" charset="0"/>
              </a:rPr>
              <a:t>Thank you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793DE-E445-35A6-C20E-352231279E7F}"/>
              </a:ext>
            </a:extLst>
          </p:cNvPr>
          <p:cNvSpPr txBox="1"/>
          <p:nvPr/>
        </p:nvSpPr>
        <p:spPr>
          <a:xfrm>
            <a:off x="2383972" y="4876800"/>
            <a:ext cx="77993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Iskoola Pota" panose="020F0502020204030204" pitchFamily="34" charset="0"/>
                <a:cs typeface="Iskoola Pota" panose="020F0502020204030204" pitchFamily="34" charset="0"/>
              </a:rPr>
              <a:t>Questions? Suggestions? Looking forward to your feedback!</a:t>
            </a:r>
            <a:endParaRPr lang="en-US" sz="2400" dirty="0">
              <a:latin typeface="Iskoola Pota" panose="020F0502020204030204" pitchFamily="34" charset="0"/>
              <a:cs typeface="Iskoola Pota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437084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78544816_Win32_SL_V10" id="{8934A6D9-B969-498F-A646-4B502FD69C4E}" vid="{AA78C1C8-456D-41A9-83FC-BC8B9A8EE3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{1A35B49F-9E51-46B0-8C11-0B08B0039D0A}tf78544816_win32</Template>
  <TotalTime>4686</TotalTime>
  <Words>2387</Words>
  <Application>Microsoft Office PowerPoint</Application>
  <PresentationFormat>Widescreen</PresentationFormat>
  <Paragraphs>281</Paragraphs>
  <Slides>25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4" baseType="lpstr">
      <vt:lpstr>Aldhabi</vt:lpstr>
      <vt:lpstr>Algerian</vt:lpstr>
      <vt:lpstr>Arial</vt:lpstr>
      <vt:lpstr>Calibri</vt:lpstr>
      <vt:lpstr>Iskoola Pota</vt:lpstr>
      <vt:lpstr>Times New Roman</vt:lpstr>
      <vt:lpstr>Tisa Offc Serif Pro</vt:lpstr>
      <vt:lpstr>Univers Light</vt:lpstr>
      <vt:lpstr>Custom</vt:lpstr>
      <vt:lpstr>RAG-based Enhancements for Context-Aware Interfaces in Large Language Model</vt:lpstr>
      <vt:lpstr>Agenda</vt:lpstr>
      <vt:lpstr>Introduction</vt:lpstr>
      <vt:lpstr>RAG Architecture: At a Glance</vt:lpstr>
      <vt:lpstr>Problem Statement</vt:lpstr>
      <vt:lpstr>Why This Challenge Matters</vt:lpstr>
      <vt:lpstr>Literature Survey</vt:lpstr>
      <vt:lpstr>PowerPoint Presentation</vt:lpstr>
      <vt:lpstr>PowerPoint Presentation</vt:lpstr>
      <vt:lpstr>Recent Advances in Retrieval-Augmented Generation (2025)</vt:lpstr>
      <vt:lpstr>Comparative Insights &amp; Identified Gaps</vt:lpstr>
      <vt:lpstr>Proposed Framework &amp; Work Done</vt:lpstr>
      <vt:lpstr>Baseline vs Two-Stage Architecture </vt:lpstr>
      <vt:lpstr>Scientific Contributions </vt:lpstr>
      <vt:lpstr>Experimental Setup and Data</vt:lpstr>
      <vt:lpstr>Evaluation Methodology </vt:lpstr>
      <vt:lpstr>Results Summary Table </vt:lpstr>
      <vt:lpstr>Quantitative Visualization </vt:lpstr>
      <vt:lpstr>State-of-the-Art: NotebookLM – Real-World Application of Retrieval-Augmented Generation</vt:lpstr>
      <vt:lpstr>NotebookLM RAG Algorithm</vt:lpstr>
      <vt:lpstr>PowerPoint Presentation</vt:lpstr>
      <vt:lpstr>Limitations of NotebookLM and Motivation for Agentic RAG</vt:lpstr>
      <vt:lpstr>Beyond Standard RAG: Agentic RAG</vt:lpstr>
      <vt:lpstr>Conclusion</vt:lpstr>
      <vt:lpstr>Thank you</vt:lpstr>
    </vt:vector>
  </TitlesOfParts>
  <Company>Southern Illinois University Carbondale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Katta, Siri Priya</dc:creator>
  <cp:lastModifiedBy>Siri Katta</cp:lastModifiedBy>
  <cp:revision>29</cp:revision>
  <dcterms:created xsi:type="dcterms:W3CDTF">2025-04-22T22:36:51Z</dcterms:created>
  <dcterms:modified xsi:type="dcterms:W3CDTF">2026-03-25T20:21:56Z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